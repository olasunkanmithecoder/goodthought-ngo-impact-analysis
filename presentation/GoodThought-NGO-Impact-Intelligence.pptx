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7795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GoodThought NGO Impact Intelligence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7652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Funding, Operational Performance &amp; Strategic Grant Readiness Analysis — 2020 to 2022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94385"/>
            <a:ext cx="1065758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336875"/>
            <a:ext cx="135284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ANALYTICS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632719" y="3289622"/>
            <a:ext cx="727918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22537" y="3336875"/>
            <a:ext cx="10054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31479" y="3289622"/>
            <a:ext cx="92972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21297" y="3336875"/>
            <a:ext cx="12072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62917"/>
            <a:ext cx="4623048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 &amp; Objectives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52054"/>
            <a:ext cx="4970190" cy="2816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071" y="1791965"/>
            <a:ext cx="2549054" cy="11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GoodThought NGO operates across education, healthcare, food relief, environmental sustainability, youth empowerment, and community development. This analysis evaluates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years of operational data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(2020–2022) across 3 PostgreSQL tables with 5,000 rows each.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674489" y="3970883"/>
            <a:ext cx="2538338" cy="809699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1737" y="409813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Donor Engagement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1737" y="4328592"/>
            <a:ext cx="274104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contribution patterns by category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02794" y="3970883"/>
            <a:ext cx="2538338" cy="809699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30042" y="409813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Equity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30042" y="4328592"/>
            <a:ext cx="274104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funding distribution across regions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31098" y="3970883"/>
            <a:ext cx="2538338" cy="809699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8346" y="409813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Grant Readiness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58346" y="4328592"/>
            <a:ext cx="228384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high-impact initiatives for proposals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752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 &amp; Validation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626096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1847999"/>
            <a:ext cx="229046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1956941"/>
            <a:ext cx="23649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Date Type Conversion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25119" y="2263453"/>
            <a:ext cx="22904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start_date, end_date, and donation_date converted from VARCHAR/TEXT to proper DATE format.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7342" y="1626096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7342" y="1847999"/>
            <a:ext cx="229053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6357342" y="1956941"/>
            <a:ext cx="229053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&amp; Duplicate Checks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57342" y="2484909"/>
            <a:ext cx="229053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critical fields; detected duplicate transactions and repeated donor records.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25119" y="341873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5119" y="3640634"/>
            <a:ext cx="4722763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3925119" y="37495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Integrity Fixes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925119" y="405608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budgets corrected to positive values; 174 reversed date records had start/end dates interchanged.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74267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Donor Contribution Trends (2020–2022)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185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contributions peaked in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at $866,914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dipped in 2021, then partially recovered in 2022 to $839,805.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contribution per transaction remained stable: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$511 (2020) → $497 (2021) → $508 (2022)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signaling consistent donor engagement despite volume fluctuations.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6164"/>
            <a:ext cx="67713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Donor Segments &amp; Funding Behavior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1773510"/>
            <a:ext cx="28277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$860K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681038" y="2418457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2496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1,083 unique donors · 1,693 transactions · Avg $508/donation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43833" y="1773510"/>
            <a:ext cx="28277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$840K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457352" y="2418457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Individuals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72496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1,060 unique donors · 1,680 transactions · Avg $500/donation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20147" y="1773510"/>
            <a:ext cx="28277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$826K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233666" y="2418457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Corporate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72496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1,002 unique donors · 1,627 transactions · Avg $508/donation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38066"/>
            <a:ext cx="8151763" cy="829196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53123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3515246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lead in total contributions ($860K) and average impact score (5.53), making them the most strategic donor segment for long-term sustainability.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51991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Funding Distribution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011338"/>
            <a:ext cx="330763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Near-Equal Distribution — But North Lags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277814"/>
            <a:ext cx="3759622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 is broadly equitable across all four regions, ranging from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24.18% to 25.51%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However, the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region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receives the least funding ($610,919) while maintaining an average impact score of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5.42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flagging it as an underfunded, high-potential region.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4714503" y="3028504"/>
            <a:ext cx="3759622" cy="580355"/>
          </a:xfrm>
          <a:prstGeom prst="roundRect">
            <a:avLst>
              <a:gd name="adj" fmla="val 8176"/>
            </a:avLst>
          </a:prstGeom>
          <a:solidFill>
            <a:srgbClr val="FCF2B5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463" y="3189833"/>
            <a:ext cx="141163" cy="1129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81587" y="3146673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Region: Lowest funding share yet strong impact scores — a prime candidate for increased investment.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66489"/>
            <a:ext cx="6277645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Budget Efficiency &amp; Impact per Dollar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58912"/>
            <a:ext cx="288488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Budget-Efficient Initiatives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49610" y="1390576"/>
            <a:ext cx="3965674" cy="3255466"/>
          </a:xfrm>
          <a:prstGeom prst="roundRect">
            <a:avLst>
              <a:gd name="adj" fmla="val 165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4372" y="1395338"/>
            <a:ext cx="3956149" cy="540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82811" y="1469901"/>
            <a:ext cx="11869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74229" y="1469901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3267" y="1469901"/>
            <a:ext cx="72739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52304" y="1469901"/>
            <a:ext cx="11869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4372" y="1936328"/>
            <a:ext cx="3956149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82811" y="2010891"/>
            <a:ext cx="7297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Assignment_933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4229" y="2010891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3267" y="2010891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52304" y="2010891"/>
            <a:ext cx="11869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0.249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4372" y="2477319"/>
            <a:ext cx="3956149" cy="540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82811" y="2551881"/>
            <a:ext cx="7297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Assignment_4230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4229" y="2551881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3267" y="2551881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52304" y="2551881"/>
            <a:ext cx="11869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0.168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372" y="3018309"/>
            <a:ext cx="3956149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82811" y="3092872"/>
            <a:ext cx="7297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Assignment_2271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74229" y="3092872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3267" y="3092872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52304" y="3092872"/>
            <a:ext cx="11869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0.167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4372" y="3559299"/>
            <a:ext cx="3956149" cy="540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82811" y="3633862"/>
            <a:ext cx="7297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Assignment_3931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74229" y="3633862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3267" y="3633862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52304" y="3633862"/>
            <a:ext cx="11869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4372" y="4100289"/>
            <a:ext cx="3956149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82811" y="4174852"/>
            <a:ext cx="7297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Assignment_2900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74229" y="4174852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3267" y="4174852"/>
            <a:ext cx="118459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9.97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52304" y="4174852"/>
            <a:ext cx="11869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0.047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3479" y="1058912"/>
            <a:ext cx="31905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Highest Impact per Donation Dollar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33479" y="1390576"/>
            <a:ext cx="3965674" cy="2667670"/>
          </a:xfrm>
          <a:prstGeom prst="roundRect">
            <a:avLst>
              <a:gd name="adj" fmla="val 202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8241" y="1395338"/>
            <a:ext cx="3955703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67201" y="1469901"/>
            <a:ext cx="15163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Initiative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87976" y="1469901"/>
            <a:ext cx="151395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06370" y="1469901"/>
            <a:ext cx="15163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Impact/$ 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38241" y="1740396"/>
            <a:ext cx="3955703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67201" y="1814959"/>
            <a:ext cx="105913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Assignment_4827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87976" y="1814959"/>
            <a:ext cx="151395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06370" y="1814959"/>
            <a:ext cx="15163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0.840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38241" y="2281386"/>
            <a:ext cx="3955703" cy="540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867201" y="2355949"/>
            <a:ext cx="105913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Assignment_2585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87976" y="2355949"/>
            <a:ext cx="151395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06370" y="2355949"/>
            <a:ext cx="15163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0.687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38241" y="2822377"/>
            <a:ext cx="3955703" cy="3450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867201" y="2896939"/>
            <a:ext cx="15163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Assignment_1718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87976" y="2896939"/>
            <a:ext cx="151395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06370" y="2896939"/>
            <a:ext cx="15163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0.663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38241" y="3167435"/>
            <a:ext cx="3955703" cy="540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867201" y="3241997"/>
            <a:ext cx="105913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Assignment_4201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87976" y="3241997"/>
            <a:ext cx="151395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506370" y="3241997"/>
            <a:ext cx="15163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0.657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38241" y="3708425"/>
            <a:ext cx="3955703" cy="3450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867201" y="3782988"/>
            <a:ext cx="15163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Assignment_600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87976" y="3782988"/>
            <a:ext cx="151395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506370" y="3782988"/>
            <a:ext cx="15163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610" y="382042"/>
            <a:ext cx="4173289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Grant Priority Initiatives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878610" y="958081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Low-budget, high-impact initiatives identified as top candidates for future international grant proposals: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878610" y="1480914"/>
            <a:ext cx="4815780" cy="732830"/>
          </a:xfrm>
          <a:prstGeom prst="roundRect">
            <a:avLst>
              <a:gd name="adj" fmla="val 736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1811" y="1614115"/>
            <a:ext cx="23744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Assignment_933 · South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11811" y="1884611"/>
            <a:ext cx="50065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Budget: $39 · Impact: 9.77 · Efficiency: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0.249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Highest ranked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78610" y="2330128"/>
            <a:ext cx="4815780" cy="732830"/>
          </a:xfrm>
          <a:prstGeom prst="roundRect">
            <a:avLst>
              <a:gd name="adj" fmla="val 736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11811" y="2463329"/>
            <a:ext cx="23203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Assignment_3931 · East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11811" y="2733824"/>
            <a:ext cx="50065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Budget: $68 · Impact: 7.10 · Efficiency: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0.105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78610" y="3179341"/>
            <a:ext cx="4815780" cy="732830"/>
          </a:xfrm>
          <a:prstGeom prst="roundRect">
            <a:avLst>
              <a:gd name="adj" fmla="val 736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11811" y="3312542"/>
            <a:ext cx="243229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Assignment_2900 · West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11811" y="3583037"/>
            <a:ext cx="50065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Budget: $211 · Impact: 9.97 · Efficiency: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0.047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78610" y="4028554"/>
            <a:ext cx="4815780" cy="732830"/>
          </a:xfrm>
          <a:prstGeom prst="roundRect">
            <a:avLst>
              <a:gd name="adj" fmla="val 736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11811" y="4161755"/>
            <a:ext cx="232826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Assignment_3757 · East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011811" y="4432250"/>
            <a:ext cx="50065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Budget: $263 · Impact: 9.92 · Efficiency: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0.038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23180"/>
            <a:ext cx="4507706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Recommendations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1364605"/>
            <a:ext cx="5165154" cy="292685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1884" y="948742"/>
            <a:ext cx="176064" cy="1760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9351" y="945133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 in the North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359351" y="1225748"/>
            <a:ext cx="2267620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funding to the underfunded North region, which shows strong impact potential.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1884" y="1938821"/>
            <a:ext cx="176064" cy="17606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59351" y="1935212"/>
            <a:ext cx="2554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Organizational Donors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359351" y="2215828"/>
            <a:ext cx="2267620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Organizations — highest contributions, transactions, and impact scores.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1884" y="2928900"/>
            <a:ext cx="176064" cy="1760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59351" y="2925291"/>
            <a:ext cx="233920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Replicate High Performers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359351" y="3205907"/>
            <a:ext cx="2267620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top-efficiency initiatives (e.g., Assignment_933) into underperforming regions.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21884" y="3918979"/>
            <a:ext cx="176064" cy="17606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59351" y="3915370"/>
            <a:ext cx="227833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Grant Proposals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6359351" y="4195986"/>
            <a:ext cx="2267620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with high impact-per-dollar initiatives to maximize grant competitiveness.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2026-05-19T15:23:01Z</dcterms:created>
  <dcterms:modified xsi:type="dcterms:W3CDTF">2026-05-19T15:23:01Z</dcterms:modified>
</cp:coreProperties>
</file>